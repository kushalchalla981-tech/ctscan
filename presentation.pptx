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01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alibri"/>
              </a:defRPr>
            </a:pPr>
            <a:r>
              <a:t>Linear Algebra  Medical Imaging  Inverse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E8ED"/>
                </a:solidFill>
                <a:latin typeface="Calibri"/>
              </a:defRPr>
            </a:pPr>
            <a:r>
              <a:t>CT Reconstructionusing LU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1A1AA"/>
                </a:solidFill>
                <a:latin typeface="Calibri"/>
              </a:defRPr>
            </a:pPr>
            <a:r>
              <a:t>From X-ray projections to image reconstruction —</a:t>
            </a:r>
            <a:br/>
            <a:r>
              <a:t>        a first-principles implementation in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5B4F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7A"/>
                </a:solidFill>
                <a:latin typeface="Calibri"/>
              </a:defRPr>
            </a:pPr>
            <a:r>
              <a:t>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7A"/>
                </a:solidFill>
                <a:latin typeface="Calibri"/>
              </a:defRPr>
            </a:pPr>
            <a:r>
              <a:t>Source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7A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59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7171"/>
                </a:solidFill>
                <a:latin typeface="Calibri"/>
              </a:defRPr>
            </a:pPr>
            <a:r>
              <a:t>1.2k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59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7A"/>
                </a:solidFill>
                <a:latin typeface="Calibri"/>
              </a:defRPr>
            </a:pPr>
            <a:r>
              <a:t>Lines of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02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From Measurements to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463040"/>
            <a:ext cx="6858000" cy="64008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5087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E8ED"/>
                </a:solidFill>
                <a:latin typeface="Consolas"/>
              </a:defRPr>
            </a:pPr>
            <a:r>
              <a:t>Given measurements A · x = b</a:t>
            </a:r>
            <a:br/>
            <a:r>
              <a:t>        &amp;nbsp;&amp;nbsp;→&amp;nbsp;&amp;nbsp; Find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029200" cy="201168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ED"/>
                </a:solidFill>
                <a:latin typeface="Calibri"/>
              </a:defRPr>
            </a:pPr>
            <a:r>
              <a:t>The Forward Problem Easy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39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Given an image x, simulate the X-ray beams.</a:t>
            </a:r>
            <a:br/>
            <a:r>
              <a:t>          Each ray's path through the pixels defines a row in matrix A.</a:t>
            </a:r>
            <a:br/>
            <a:r>
              <a:t>          The result is a sinogram b — the measurements a real detector would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194560"/>
            <a:ext cx="5029200" cy="201168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ED"/>
                </a:solidFill>
                <a:latin typeface="Calibri"/>
              </a:defRPr>
            </a:pPr>
            <a:r>
              <a:t>The Inverse Problem 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834639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Given the sinogram b and system matrix A,</a:t>
            </a:r>
            <a:br/>
            <a:r>
              <a:t>          recover the original image x. This is ill-posed:</a:t>
            </a:r>
            <a:br/>
            <a:r>
              <a:t>          small measurement errors amplify into large reconstruction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Calibri"/>
              </a:defRPr>
            </a:pPr>
            <a:r>
              <a:t>Key insight: The system is overdetermined (1,408 equations, 1,024 unknowns)</a:t>
            </a:r>
            <a:br/>
            <a:r>
              <a:t>        and 91% sparse — most matrix entries are zero because each X-ray beam</a:t>
            </a:r>
            <a:br/>
            <a:r>
              <a:t>        passes through only a fraction of pixels. This sparsity is the key to efficient solving.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03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The Forward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18288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D"/>
                </a:solidFill>
                <a:latin typeface="Calibri"/>
              </a:defRPr>
            </a:pPr>
            <a:r>
              <a:t>1. Phantom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The 32 × 32 Shepp-Logan phantom — a standard test image</a:t>
            </a:r>
            <a:br/>
            <a:r>
              <a:t>          simulating a cross-section of a human head. Built from 10 ellipses with</a:t>
            </a:r>
            <a:br/>
            <a:r>
              <a:t>          varying intensities for skull, brain, and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291840" cy="18288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D"/>
                </a:solidFill>
                <a:latin typeface="Calibri"/>
              </a:defRPr>
            </a:pPr>
            <a:r>
              <a:t>2. Ray Tracing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Parallel-beam geometry: 44 angles × 32 detectors = 1,408 rays.</a:t>
            </a:r>
            <a:br/>
            <a:r>
              <a:t>          Each ray's intersection length with each pixel becomes one entry in the system matrix.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291840" cy="18288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D"/>
                </a:solidFill>
                <a:latin typeface="Calibri"/>
              </a:defRPr>
            </a:pPr>
            <a:r>
              <a:t>3. Sinogram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920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The measurement vector b — the "shadow" cast by the</a:t>
            </a:r>
            <a:br/>
            <a:r>
              <a:t>          phantom. In a real CT scanner, this is what the detector array records</a:t>
            </a:r>
            <a:br/>
            <a:r>
              <a:t>          as the gantry rotates around the patient.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3291840" cy="9144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5B4FC"/>
                </a:solidFill>
                <a:latin typeface="Calibri"/>
              </a:defRPr>
            </a:pPr>
            <a:r>
              <a:t>1,408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7A"/>
                </a:solidFill>
                <a:latin typeface="Calibri"/>
              </a:defRPr>
            </a:pPr>
            <a:r>
              <a:t>Equations (rows)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A6A7A"/>
                </a:solidFill>
                <a:latin typeface="Calibri"/>
              </a:defRPr>
            </a:pPr>
            <a:r>
              <a:t>More equations than unknowns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474720"/>
            <a:ext cx="3291840" cy="9144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5204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Calibri"/>
              </a:defRPr>
            </a:pPr>
            <a:r>
              <a:t>1,024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7A"/>
                </a:solidFill>
                <a:latin typeface="Calibri"/>
              </a:defRPr>
            </a:pPr>
            <a:r>
              <a:t>Unknowns (columns)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A6A7A"/>
                </a:solidFill>
                <a:latin typeface="Calibri"/>
              </a:defRPr>
            </a:pPr>
            <a:r>
              <a:t>32 × 32 = 1,024 pixels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474720"/>
            <a:ext cx="3291840" cy="9144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35204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3886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7A"/>
                </a:solidFill>
                <a:latin typeface="Calibri"/>
              </a:defRPr>
            </a:pPr>
            <a:r>
              <a:t>Sparsity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A6A7A"/>
                </a:solidFill>
                <a:latin typeface="Calibri"/>
              </a:defRPr>
            </a:pPr>
            <a:r>
              <a:t>~127k non-zero entries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04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The Mathematics of Solving A·x =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18288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5B4FC"/>
                </a:solidFill>
                <a:latin typeface="Calibri"/>
              </a:defRPr>
            </a:pPr>
            <a:r>
              <a:t>Least-Squares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Since A is not square,</a:t>
            </a:r>
            <a:br/>
            <a:r>
              <a:t>            we minimize the squared error: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D"/>
                </a:solidFill>
                <a:latin typeface="Consolas"/>
              </a:defRPr>
            </a:pPr>
            <a:r>
              <a:t>x̂ = argmin ‖A·x − b‖²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7A"/>
                </a:solidFill>
                <a:latin typeface="Calibri"/>
              </a:defRPr>
            </a:pPr>
            <a:r>
              <a:t>The solution satisfies the normal equations: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5303520" cy="18288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Two Solver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5B4FC"/>
                </a:solidFill>
                <a:latin typeface="Calibri"/>
              </a:defRPr>
            </a:pPr>
            <a:r>
              <a:t>Dense 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Factor Aᵀ·A into P·L·U</a:t>
            </a:r>
            <a:br/>
            <a:r>
              <a:t>                → forward &amp;amp; back substitution. Exact but expensive for large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Sparse LSQR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Iterative method (Golub-Kahan bidiagonalization).</a:t>
            </a:r>
            <a:br/>
            <a:r>
              <a:t>                Works directly with sparse A — no dense</a:t>
            </a:r>
            <a:br/>
            <a:r>
              <a:t>                Aᵀ·A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291840" cy="9144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Iterative Refinement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A6A7A"/>
                </a:solidFill>
                <a:latin typeface="Calibri"/>
              </a:defRPr>
            </a:pPr>
            <a:r>
              <a:t>Correction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Consolas"/>
              </a:defRPr>
            </a:pPr>
            <a:r>
              <a:t>x̂ₖ₊₁ = x̂ₖ + A†·(b − A·x̂ₖ)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474720"/>
            <a:ext cx="3291840" cy="9144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5204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  <a:latin typeface="Calibri"/>
              </a:defRPr>
            </a:pPr>
            <a:r>
              <a:t>Auto-Select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40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A6A7A"/>
                </a:solidFill>
                <a:latin typeface="Calibri"/>
              </a:defRPr>
            </a:pPr>
            <a:r>
              <a:t>Dense ↔ Sparse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Consolas"/>
              </a:defRPr>
            </a:pPr>
            <a:r>
              <a:t>Chooses best method based on 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474720"/>
            <a:ext cx="3291840" cy="9144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35204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5B4FC"/>
                </a:solidFill>
                <a:latin typeface="Calibri"/>
              </a:defRPr>
            </a:pPr>
            <a:r>
              <a:t>Tikhonov Reg.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840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A6A7A"/>
                </a:solidFill>
                <a:latin typeface="Calibri"/>
              </a:defRPr>
            </a:pPr>
            <a:r>
              <a:t>Noise dampening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1A1AA"/>
                </a:solidFill>
                <a:latin typeface="Consolas"/>
              </a:defRPr>
            </a:pPr>
            <a:r>
              <a:t>min ‖A·x − b‖² + λ²‖x‖²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05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FORMULARY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Key Formulae Used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Every formula below maps directly to a source file in the codebase.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5B4FC"/>
                </a:solidFill>
                <a:latin typeface="Calibri"/>
              </a:defRPr>
            </a:pPr>
            <a:r>
              <a:t>▸ Forward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A · x =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min ‖A·x − b‖²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A6A7A"/>
                </a:solidFill>
                <a:latin typeface="Calibri"/>
              </a:defRPr>
            </a:pPr>
            <a:r>
              <a:t>projector.py — builds sparse A, b</a:t>
            </a:r>
            <a:br/>
            <a:r>
              <a:t>lud_solver.py — all solver strategies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89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▸ LU 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P·A = L·U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L·y = P·b  ⟶  U·x =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A6A7A"/>
                </a:solidFill>
                <a:latin typeface="Calibri"/>
              </a:defRPr>
            </a:pPr>
            <a:r>
              <a:t>lud_solver.py:113–153 — dense PA=LU</a:t>
            </a:r>
            <a:br/>
            <a:r>
              <a:t>with partial pivoting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377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▸ Tikhonov Regularization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min ‖A·x−b‖² + λ²·‖x‖²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A6A7A"/>
                </a:solidFill>
                <a:latin typeface="Calibri"/>
              </a:defRPr>
            </a:pPr>
            <a:r>
              <a:t>lud_solver.py — LSQR damp = √λ</a:t>
            </a:r>
            <a:br/>
            <a:r>
              <a:t>noise.py — robustness sweep (λ=4.0)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874519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202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▸ Iterative 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rₖ = b − A·xₖ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68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xₖ₊₁ = xₖ + A†·rₖ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A6A7A"/>
                </a:solidFill>
                <a:latin typeface="Calibri"/>
              </a:defRPr>
            </a:pPr>
            <a:r>
              <a:t>lud_solver.py:156–191 — repeats until</a:t>
            </a:r>
            <a:br/>
            <a:r>
              <a:t>‖r‖/‖b‖ &lt; 10⁻¹⁰ (max 3 iterations)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383279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4289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5B4FC"/>
                </a:solidFill>
                <a:latin typeface="Calibri"/>
              </a:defRPr>
            </a:pPr>
            <a:r>
              <a:t>▸ Quality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RMSE = √(mean((x̂−x)²))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PSNR = 20·log₁₀(max/RMSE)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251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SSIM = (2μₓμᵧ+C₁)(2σₓᵧ+C₂) / ((μₓ²+μᵧ²+C₁)(σₓ²+σᵧ²+C₂))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A6A7A"/>
                </a:solidFill>
                <a:latin typeface="Calibri"/>
              </a:defRPr>
            </a:pPr>
            <a:r>
              <a:t>metrics.py:23–76 — RMSE, PSNR, SSIM,</a:t>
            </a:r>
            <a:br/>
            <a:r>
              <a:t>relative error, forward residual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892040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9377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84FC"/>
                </a:solidFill>
                <a:latin typeface="Calibri"/>
              </a:defRPr>
            </a:pPr>
            <a:r>
              <a:t>▸ Other Key Formulae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212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sparsity = 1 − nnz/(m·n)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4863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D"/>
                </a:solidFill>
                <a:latin typeface="Consolas"/>
              </a:defRPr>
            </a:pPr>
            <a:r>
              <a:t>noise = b + σ·N(0,1), σ = noise·std(b)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8521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A6A7A"/>
                </a:solidFill>
                <a:latin typeface="Calibri"/>
              </a:defRPr>
            </a:pPr>
            <a:r>
              <a:t>projector.py — sparsity calc</a:t>
            </a:r>
            <a:br/>
            <a:r>
              <a:t>noise.py — Gaussian &amp; Poisson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18+ unique formulae across 4 phases, each linked to its source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06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Project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D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onsolas"/>
              </a:defRPr>
            </a:pPr>
            <a:r>
              <a:t># Project structure</a:t>
            </a:r>
            <a:br/>
            <a:r>
              <a:t>main.py    ← CLI entry point (argparse + rich)</a:t>
            </a:r>
            <a:br/>
            <a:r>
              <a:t>└   src/</a:t>
            </a:r>
            <a:br/>
            <a:r>
              <a:t>├   phantom.py   ← Shepp-Logan generator</a:t>
            </a:r>
            <a:br/>
            <a:r>
              <a:t>├   projector.py  ← Ray tracing → sparse A + b</a:t>
            </a:r>
            <a:br/>
            <a:r>
              <a:t>├   lud_solver.py ← LU + LSQR implementations</a:t>
            </a:r>
            <a:br/>
            <a:r>
              <a:t>├   reconstructor.py ← Full pipeline orchestrator</a:t>
            </a:r>
            <a:br/>
            <a:r>
              <a:t>├   metrics.py   ← RMSE, PSNR, SSIM</a:t>
            </a:r>
            <a:br/>
            <a:r>
              <a:t>├   noise.py     ← Gaussian noise + robustness</a:t>
            </a:r>
            <a:br/>
            <a:r>
              <a:t>├   loader.py     ← DICOM/raster loader</a:t>
            </a:r>
            <a:br/>
            <a:r>
              <a:t>├   validate.py  ← 4-phase validation suite</a:t>
            </a:r>
            <a:br/>
            <a:r>
              <a:t>└   exporter.py  ← HTML report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5303520" cy="27432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D"/>
                </a:solidFill>
                <a:latin typeface="Calibri"/>
              </a:defRPr>
            </a:pPr>
            <a:r>
              <a:t>CLI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onsolas"/>
              </a:defRPr>
            </a:pPr>
            <a:r>
              <a:t>$ python main.py reconstruct --html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6A7A"/>
                </a:solidFill>
                <a:latin typeface="Calibri"/>
              </a:defRPr>
            </a:pPr>
            <a:r>
              <a:t>Full pipeline → HTML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Key design: Single entry point (main.py), modular src/ package,</a:t>
            </a:r>
            <a:br/>
            <a:r>
              <a:t>        31 unit tests in tests/, and a Jupyter notebook walkthrough</a:t>
            </a:r>
            <a:br/>
            <a:r>
              <a:t>        (demo.ipynb). All commands support --html to export standalone</a:t>
            </a:r>
            <a:br/>
            <a:r>
              <a:t>        reports with embedded plots and metrics tables. DICOM support via</a:t>
            </a:r>
            <a:br/>
            <a:r>
              <a:t>        pydicom + pylibjpeg.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07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Reconstruction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Measured against the ground-truth phantom using three complementary metrics.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With Refinement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0.0223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A6A7A"/>
                          </a:solidFill>
                        </a:defRPr>
                      </a:pPr>
                      <a:r>
                        <a:t>sqrt(mean((x̂−x)²))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33.38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58.35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A6A7A"/>
                          </a:solidFill>
                        </a:defRPr>
                      </a:pPr>
                      <a:r>
                        <a:t>20·log₁₀(max/RMSE)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A6A7A"/>
                          </a:solidFill>
                        </a:defRPr>
                      </a:pPr>
                      <a:r>
                        <a:t>Structural similarity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2.6×10⁻⁵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2.3×10⁻⁷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A6A7A"/>
                          </a:solidFill>
                        </a:defRPr>
                      </a:pPr>
                      <a:r>
                        <a:t>‖b − A·x̂‖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035040" y="1874519"/>
            <a:ext cx="5303520" cy="18288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8ED"/>
                </a:solidFill>
                <a:latin typeface="Calibri"/>
              </a:defRPr>
            </a:pPr>
            <a:r>
              <a:t>What the Metrics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Calibri"/>
              </a:defRPr>
            </a:pPr>
            <a:r>
              <a:t>Average pixel error. 0.022 = 2.2% per pixel. With refinement: 0.12% — near perfect.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5B4FC"/>
                </a:solidFill>
                <a:latin typeface="Calibri"/>
              </a:defRPr>
            </a:pPr>
            <a:r>
              <a:t>PSNR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Calibri"/>
              </a:defRPr>
            </a:pPr>
            <a:r>
              <a:t>Peak Signal-to-Noise Ratio. &gt;30 dB is good; &gt;50 dB is excellent. Refinement achieves 58.35 dB.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SSIM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Calibri"/>
              </a:defRPr>
            </a:pPr>
            <a:r>
              <a:t>Structural Similarity — compares patterns, not just pixels. 1.000 = structurally identical.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SSIM = 1.000 with iterative refinement: the reconstruction is</a:t>
            </a:r>
            <a:br/>
            <a:r>
              <a:t>        structurally indistinguishable from the original phantom when no noise is present.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08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Noise Robustness &amp;amp; Regularization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Real CT measurements are noisy. Without regularization, the inverse problem</a:t>
            </a:r>
            <a:br/>
            <a:r>
              <a:t>        amplifies noise catastrophically.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4114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A6A7A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21.6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0.913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20.4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14.7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0.551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12.1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0.252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10.6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8E8ED"/>
                          </a:solidFill>
                        </a:defRPr>
                      </a:pPr>
                      <a:r>
                        <a:t>0.080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120640" y="1874519"/>
            <a:ext cx="6217920" cy="27432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9202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Tikhonov 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86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Instead of solving min ‖A·x − b‖², we solve: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60603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D"/>
                </a:solidFill>
                <a:latin typeface="Consolas"/>
              </a:defRPr>
            </a:pPr>
            <a:r>
              <a:t>min ‖A·x − b‖² + λ²·‖x‖²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71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The second term penalizes large solutions, preventing noise amplification. Parameter λ (damp) controls the bias-variance tradeoff.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520439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Without regularization: RMSE jumps from 0.022 → 2.56 at just 1% noise! With regularization: RMSE stays at 0.095 — 27×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7A"/>
                </a:solidFill>
                <a:latin typeface="Calibri"/>
              </a:defRPr>
            </a:pPr>
            <a:r>
              <a:t>09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D"/>
                </a:solidFill>
                <a:latin typeface="Calibri"/>
              </a:defRPr>
            </a:pPr>
            <a:r>
              <a:t>Summary &amp;amp;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Core 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alibri"/>
              </a:defRPr>
            </a:pPr>
            <a:r>
              <a:t>A complete CT reconstruction pipeline from first principles:</a:t>
            </a:r>
            <a:br/>
            <a:r>
              <a:t>            Shepp-Logan phantom → ray tracing → sparse system matrix →</a:t>
            </a:r>
            <a:br/>
            <a:r>
              <a:t>            LU/LSQR solving → quality metrics → noise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530352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B4FC"/>
                </a:solidFill>
                <a:latin typeface="Calibri"/>
              </a:defRPr>
            </a:pPr>
            <a:r>
              <a:t>What We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1. Inverse problems are ill-posed — tiny errors</a:t>
            </a:r>
            <a:br/>
            <a:r>
              <a:t>            become huge reconstruction failures.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2. Sparsity is a superpower — 91% sparse matrices</a:t>
            </a:r>
            <a:br/>
            <a:r>
              <a:t>            make iterative solvers practical.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3. Regularization is essential — bias–variance</a:t>
            </a:r>
            <a:br/>
            <a:r>
              <a:t>            tradeoff is central to all inverse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231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4. Different tools for different jobs — LU for</a:t>
            </a:r>
            <a:br/>
            <a:r>
              <a:t>            small/dense, LSQR for large/sparse.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029200" cy="1371600"/>
          </a:xfrm>
          <a:prstGeom prst="roundRect">
            <a:avLst/>
          </a:prstGeom>
          <a:solidFill>
            <a:srgbClr val="14141A"/>
          </a:solidFill>
          <a:ln w="6350">
            <a:solidFill>
              <a:srgbClr val="22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Key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8327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• RMSE 0.0012 with refinement (near-perfect)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8444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• Robust up to 5% noise with Tikhonov regularization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85615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• 31 passing unit tests across all 4 phases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86783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• DICOM support for real CT scan reconstruction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87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Calibri"/>
              </a:defRPr>
            </a:pPr>
            <a:r>
              <a:t>• HTML export with --html — standalone reports with embedded plots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7A"/>
                </a:solidFill>
                <a:latin typeface="Calibri"/>
              </a:defRPr>
            </a:pPr>
            <a:r>
              <a:t>Python  |  NumPy/SciPy  |  Matplotlib  |  scikit-image  |  pydicom  |  pytest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7A"/>
                </a:solidFill>
                <a:latin typeface="Calibri"/>
              </a:defRPr>
            </a:pPr>
            <a:r>
              <a:t>CT Reconstruction using LU Decomposition  ·  College Project  · 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